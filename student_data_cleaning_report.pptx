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f1d71c0-1282-d016-3e28-4d62bd002790}">
          <p14:sldIdLst>
            <p14:sldId id="256"/>
            <p14:sldId id="257"/>
          </p14:sldIdLst>
        </p14:section>
        <p14:section name="Pipeline" id="{c222d713-23b5-0445-d38f-926c818155c7}">
          <p14:sldIdLst>
            <p14:sldId id="258"/>
            <p14:sldId id="259"/>
            <p14:sldId id="260"/>
          </p14:sldIdLst>
        </p14:section>
        <p14:section name="Findings" id="{0af581ad-7ca6-07fb-db8c-4670c07b2a93}">
          <p14:sldIdLst>
            <p14:sldId id="261"/>
          </p14:sldIdLst>
        </p14:section>
        <p14:section name="Next steps" id="{21c0b1c7-117e-43da-b306-6b39b381762e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33"/>
                </a:solidFill>
                <a:latin typeface="+mn-lt"/>
              </a:rPr>
              <a:t>Dirty values per column (9,850 rows)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Blank or text</c:v>
                </c:pt>
              </c:strCache>
            </c:strRef>
          </c:tx>
          <c:spPr>
            <a:solidFill>
              <a:srgbClr val="0B6E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English</c:v>
                  </c:pt>
                  <c:pt idx="1">
                    <c:v>Science</c:v>
                  </c:pt>
                  <c:pt idx="2">
                    <c:v>Math</c:v>
                  </c:pt>
                  <c:pt idx="3">
                    <c:v>Study hours</c:v>
                  </c:pt>
                  <c:pt idx="4">
                    <c:v>Attendance</c:v>
                  </c:pt>
                  <c:pt idx="5">
                    <c:v>Age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235</c:v>
                </c:pt>
                <c:pt idx="1">
                  <c:v>236</c:v>
                </c:pt>
                <c:pt idx="2">
                  <c:v>242</c:v>
                </c:pt>
                <c:pt idx="3">
                  <c:v>193</c:v>
                </c:pt>
                <c:pt idx="4">
                  <c:v>248</c:v>
                </c:pt>
                <c:pt idx="5">
                  <c:v>297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 of range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English</c:v>
                  </c:pt>
                  <c:pt idx="1">
                    <c:v>Science</c:v>
                  </c:pt>
                  <c:pt idx="2">
                    <c:v>Math</c:v>
                  </c:pt>
                  <c:pt idx="3">
                    <c:v>Study hours</c:v>
                  </c:pt>
                  <c:pt idx="4">
                    <c:v>Attendance</c:v>
                  </c:pt>
                  <c:pt idx="5">
                    <c:v>Age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191</c:v>
                </c:pt>
                <c:pt idx="1">
                  <c:v>212</c:v>
                </c:pt>
                <c:pt idx="2">
                  <c:v>200</c:v>
                </c:pt>
                <c:pt idx="3">
                  <c:v>344</c:v>
                </c:pt>
                <c:pt idx="4">
                  <c:v>876</c:v>
                </c:pt>
                <c:pt idx="5">
                  <c:v>189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E3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F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05840"/>
            <a:ext cx="5303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0584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Student Dataset Cleaning Report</a:t>
            </a:r>
            <a:endParaRPr lang="en-US" sz="4200" dirty="0"/>
          </a:p>
        </p:txBody>
      </p:sp>
      <p:sp>
        <p:nvSpPr>
          <p:cNvPr id="3" name="Motif large"/>
          <p:cNvSpPr/>
          <p:nvPr/>
        </p:nvSpPr>
        <p:spPr>
          <a:xfrm>
            <a:off x="6309360" y="822960"/>
            <a:ext cx="2377440" cy="2377440"/>
          </a:xfrm>
          <a:prstGeom prst="ellipse">
            <a:avLst/>
          </a:prstGeom>
          <a:solidFill>
            <a:schemeClr val="accent1">
              <a:alpha val="60000"/>
            </a:schemeClr>
          </a:solidFill>
          <a:ln/>
        </p:spPr>
      </p:sp>
      <p:sp>
        <p:nvSpPr>
          <p:cNvPr id="4" name="Motif small"/>
          <p:cNvSpPr/>
          <p:nvPr/>
        </p:nvSpPr>
        <p:spPr>
          <a:xfrm>
            <a:off x="5669280" y="2926080"/>
            <a:ext cx="1280160" cy="1280160"/>
          </a:xfrm>
          <a:prstGeom prst="ellipse">
            <a:avLst/>
          </a:prstGeom>
          <a:solidFill>
            <a:schemeClr val="accent4">
              <a:alpha val="80000"/>
            </a:schemeClr>
          </a:solidFill>
          <a:ln/>
        </p:spPr>
      </p:sp>
      <p:sp>
        <p:nvSpPr>
          <p:cNvPr id="5" name="Subtitle"/>
          <p:cNvSpPr txBox="1"/>
          <p:nvPr/>
        </p:nvSpPr>
        <p:spPr>
          <a:xfrm>
            <a:off x="640080" y="2788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Review of the 19-step MySQL pipeline applied to 10,000 student records</a:t>
            </a:r>
            <a:endParaRPr lang="en-US" sz="1800" dirty="0"/>
          </a:p>
        </p:txBody>
      </p:sp>
      <p:sp>
        <p:nvSpPr>
          <p:cNvPr id="6" name="Source"/>
          <p:cNvSpPr txBox="1"/>
          <p:nvPr/>
        </p:nvSpPr>
        <p:spPr>
          <a:xfrm>
            <a:off x="64008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Source: student_dataset_dirty.csv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Executive summary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457200" y="1234440"/>
            <a:ext cx="2560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9,850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rows kept from 10,000 after removing 150 duplicates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291840" y="1234440"/>
            <a:ext cx="2560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371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19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148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cleaning steps in the MySQL script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126480" y="1234440"/>
            <a:ext cx="2560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371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48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high-impact issues that change the results</a:t>
            </a:r>
            <a:endParaRPr lang="en-US" sz="1400" dirty="0"/>
          </a:p>
        </p:txBody>
      </p:sp>
      <p:sp>
        <p:nvSpPr>
          <p:cNvPr id="12" name="Summary points"/>
          <p:cNvSpPr txBox="1"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script standardizes formats, validates ranges, fills gaps, and rebuilds Total_Score and Result.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Four steps change the meaning of the data and should be fixed before the table is used for analysis.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Pipeline at a glance</a:t>
            </a:r>
            <a:endParaRPr lang="en-US" sz="3400" dirty="0"/>
          </a:p>
        </p:txBody>
      </p:sp>
      <p:sp>
        <p:nvSpPr>
          <p:cNvPr id="3" name="Phase row 1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4" name="Phase number 1"/>
          <p:cNvSpPr txBox="1"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Prepare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Steps 1–3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11887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the v2 working table and delete 150 exact duplicate rows</a:t>
            </a:r>
            <a:endParaRPr lang="en-US" sz="1400" dirty="0"/>
          </a:p>
        </p:txBody>
      </p:sp>
      <p:sp>
        <p:nvSpPr>
          <p:cNvPr id="7" name="Phase row 2"/>
          <p:cNvSpPr/>
          <p:nvPr/>
        </p:nvSpPr>
        <p:spPr>
          <a:xfrm>
            <a:off x="457200" y="1901952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8" name="Phase number 2"/>
          <p:cNvSpPr txBox="1"/>
          <p:nvPr/>
        </p:nvSpPr>
        <p:spPr>
          <a:xfrm>
            <a:off x="594360" y="19933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9019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Standardize and fill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Steps 4–6, 8–10, 15–16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19019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Unify IDs, names, class and categories; fill blanks with the mode</a:t>
            </a:r>
            <a:endParaRPr lang="en-US" sz="1400" dirty="0"/>
          </a:p>
        </p:txBody>
      </p:sp>
      <p:sp>
        <p:nvSpPr>
          <p:cNvPr id="11" name="Phase row 3"/>
          <p:cNvSpPr/>
          <p:nvPr/>
        </p:nvSpPr>
        <p:spPr>
          <a:xfrm>
            <a:off x="457200" y="2615184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2" name="Phase number 3"/>
          <p:cNvSpPr txBox="1"/>
          <p:nvPr/>
        </p:nvSpPr>
        <p:spPr>
          <a:xfrm>
            <a:off x="594360" y="27066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6151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Validate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Steps 7, 11–13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615184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out-of-range numbers to NULL; fill attendance and hours with the median</a:t>
            </a:r>
            <a:endParaRPr lang="en-US" sz="1400" dirty="0"/>
          </a:p>
        </p:txBody>
      </p:sp>
      <p:sp>
        <p:nvSpPr>
          <p:cNvPr id="15" name="Phase row 4"/>
          <p:cNvSpPr/>
          <p:nvPr/>
        </p:nvSpPr>
        <p:spPr>
          <a:xfrm>
            <a:off x="457200" y="3328416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6" name="Phase number 4"/>
          <p:cNvSpPr txBox="1"/>
          <p:nvPr/>
        </p:nvSpPr>
        <p:spPr>
          <a:xfrm>
            <a:off x="594360" y="34198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2841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Derive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Steps 14, 17–18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3328416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Recalculate Total_Score, rebuild Result, and set Age from Class</a:t>
            </a:r>
            <a:endParaRPr lang="en-US" sz="1400" dirty="0"/>
          </a:p>
        </p:txBody>
      </p:sp>
      <p:sp>
        <p:nvSpPr>
          <p:cNvPr id="19" name="Phase row 5"/>
          <p:cNvSpPr/>
          <p:nvPr/>
        </p:nvSpPr>
        <p:spPr>
          <a:xfrm>
            <a:off x="457200" y="4041648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0" name="Phase number 5"/>
          <p:cNvSpPr txBox="1"/>
          <p:nvPr/>
        </p:nvSpPr>
        <p:spPr>
          <a:xfrm>
            <a:off x="594360" y="41330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Finalize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Step 19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703320" y="404164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Convert Age, Class and scores to INT, attendance to FLOAT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Cleaning rules by column</a:t>
            </a:r>
            <a:endParaRPr lang="en-US" sz="3400" dirty="0"/>
          </a:p>
        </p:txBody>
      </p:sp>
      <p:graphicFrame>
        <p:nvGraphicFramePr>
          <p:cNvPr id="5" name="Ru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Raw problem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Rule applied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Student_ID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150 duplicate rows, mixed IDs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STU-00000 format; duplicates dropped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1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41 blank, mixed case, spaces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Trim, capitalize; blanks → UNKNOWN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Gender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12 variants, 822 blank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Male / Female / Other; blanks → mode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1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City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29 variants, 219 blank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Trim, fix case; blanks → mode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Class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16 forms (Six, 6th, 06)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Converted to integer 6–10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1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Parent_Education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18 variants, 529 blank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Unified case; blanks → mode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Internet_Access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12 variants (yes, 1, Y)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Yes / No; blanks → mode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1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9 variants (P, fail)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Rebuilt: pass if every subject ≥ 33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Dirty numeric values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card"/>
          <p:cNvSpPr/>
          <p:nvPr/>
        </p:nvSpPr>
        <p:spPr>
          <a:xfrm>
            <a:off x="5943600" y="1188720"/>
            <a:ext cx="2743200" cy="35661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17220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11.4%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Attendance_Percentage values are dirty, the worst of the six columns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32461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 ranges: Age 0–18, attendance 0–100, study hours 0–24, scores 0–100. Anything else becomes NULL.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Issues that change results</a:t>
            </a:r>
            <a:endParaRPr lang="en-US" sz="3400" dirty="0"/>
          </a:p>
        </p:txBody>
      </p:sp>
      <p:sp>
        <p:nvSpPr>
          <p:cNvPr id="3" name="Issue card 1"/>
          <p:cNvSpPr/>
          <p:nvPr/>
        </p:nvSpPr>
        <p:spPr>
          <a:xfrm>
            <a:off x="457200" y="1188720"/>
            <a:ext cx="40233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98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1,263 rows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Score imputation never written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848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Step 13 ends at a comment, so Total_Score is NULL and Result is forced to Fail. 1,157 would pass.</a:t>
            </a:r>
            <a:endParaRPr lang="en-US" sz="1400" dirty="0"/>
          </a:p>
        </p:txBody>
      </p:sp>
      <p:sp>
        <p:nvSpPr>
          <p:cNvPr id="7" name="Issue card 2"/>
          <p:cNvSpPr/>
          <p:nvPr/>
        </p:nvSpPr>
        <p:spPr>
          <a:xfrm>
            <a:off x="4663440" y="1188720"/>
            <a:ext cx="40233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298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857 rows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Internet “N” flips to “Yes”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0848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Step 16 accepts only yes, no, 1 and 0. Y and N become NULL and receive the mode.</a:t>
            </a:r>
            <a:endParaRPr lang="en-US" sz="1400" dirty="0"/>
          </a:p>
        </p:txBody>
      </p:sp>
      <p:sp>
        <p:nvSpPr>
          <p:cNvPr id="11" name="Issue card 3"/>
          <p:cNvSpPr/>
          <p:nvPr/>
        </p:nvSpPr>
        <p:spPr>
          <a:xfrm>
            <a:off x="457200" y="3017520"/>
            <a:ext cx="40233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1272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88%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 ages are overwritten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9136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Step 18 sets Age from Class for every row, replacing 8,226 of 9,364 valid ages.</a:t>
            </a:r>
            <a:endParaRPr lang="en-US" sz="1400" dirty="0"/>
          </a:p>
        </p:txBody>
      </p:sp>
      <p:sp>
        <p:nvSpPr>
          <p:cNvPr id="15" name="Issue card 4"/>
          <p:cNvSpPr/>
          <p:nvPr/>
        </p:nvSpPr>
        <p:spPr>
          <a:xfrm>
            <a:off x="4663440" y="3017520"/>
            <a:ext cx="40233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31272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49%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Original Result is replaced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9136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Raw Result matches the 33-mark rule on only 49% of rows. Pass rate jumps from 50% to 88%.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Fixes and next steps</a:t>
            </a:r>
            <a:endParaRPr lang="en-US" sz="3400" dirty="0"/>
          </a:p>
        </p:txBody>
      </p:sp>
      <p:sp>
        <p:nvSpPr>
          <p:cNvPr id="3" name="Fix number 1"/>
          <p:cNvSpPr txBox="1"/>
          <p:nvPr/>
        </p:nvSpPr>
        <p:spPr>
          <a:xfrm>
            <a:off x="457200" y="128930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23444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Scores: add the median fill before Total_Score and Result are calculated</a:t>
            </a:r>
            <a:endParaRPr lang="en-US" sz="1400" dirty="0"/>
          </a:p>
        </p:txBody>
      </p:sp>
      <p:sp>
        <p:nvSpPr>
          <p:cNvPr id="5" name="Fix number 2"/>
          <p:cNvSpPr txBox="1"/>
          <p:nvPr/>
        </p:nvSpPr>
        <p:spPr>
          <a:xfrm>
            <a:off x="457200" y="179222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73736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Median steps: filter out NULLs first, or the value comes out too low</a:t>
            </a:r>
            <a:endParaRPr lang="en-US" sz="1400" dirty="0"/>
          </a:p>
        </p:txBody>
      </p:sp>
      <p:sp>
        <p:nvSpPr>
          <p:cNvPr id="7" name="Fix number 3"/>
          <p:cNvSpPr txBox="1"/>
          <p:nvPr/>
        </p:nvSpPr>
        <p:spPr>
          <a:xfrm>
            <a:off x="457200" y="229514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4028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Internet_Access: accept Y and N, and treat n/a as missing</a:t>
            </a:r>
            <a:endParaRPr lang="en-US" sz="1400" dirty="0"/>
          </a:p>
        </p:txBody>
      </p:sp>
      <p:sp>
        <p:nvSpPr>
          <p:cNvPr id="9" name="Fix number 4"/>
          <p:cNvSpPr txBox="1"/>
          <p:nvPr/>
        </p:nvSpPr>
        <p:spPr>
          <a:xfrm>
            <a:off x="457200" y="279806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74320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Age and Result: confirm the business rules, or keep the raw values</a:t>
            </a:r>
            <a:endParaRPr lang="en-US" sz="1400" dirty="0"/>
          </a:p>
        </p:txBody>
      </p:sp>
      <p:sp>
        <p:nvSpPr>
          <p:cNvPr id="11" name="Fix number 5"/>
          <p:cNvSpPr txBox="1"/>
          <p:nvPr/>
        </p:nvSpPr>
        <p:spPr>
          <a:xfrm>
            <a:off x="457200" y="330098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24612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City: map Mymensign, Barishal, Chittagong, Ctg and Dacca to one name each</a:t>
            </a:r>
            <a:endParaRPr lang="en-US" sz="1400" dirty="0"/>
          </a:p>
        </p:txBody>
      </p:sp>
      <p:sp>
        <p:nvSpPr>
          <p:cNvPr id="13" name="Fix number 6"/>
          <p:cNvSpPr txBox="1"/>
          <p:nvPr/>
        </p:nvSpPr>
        <p:spPr>
          <a:xfrm>
            <a:off x="457200" y="380390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74904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Names and Parent_Education: capitalize every word, treat N/A as missing</a:t>
            </a:r>
            <a:endParaRPr lang="en-US" sz="1400" dirty="0"/>
          </a:p>
        </p:txBody>
      </p:sp>
      <p:sp>
        <p:nvSpPr>
          <p:cNvPr id="15" name="Output pill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Target output: 9,850 rows × 15 columns, typed as INT and FLOAT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Clean">
  <a:themeElements>
    <a:clrScheme name="DataClean">
      <a:dk1>
        <a:srgbClr val="1B2A33"/>
      </a:dk1>
      <a:lt1>
        <a:srgbClr val="FFFFFF"/>
      </a:lt1>
      <a:dk2>
        <a:srgbClr val="0B3C49"/>
      </a:dk2>
      <a:lt2>
        <a:srgbClr val="E8F1F3"/>
      </a:lt2>
      <a:accent1>
        <a:srgbClr val="0B6E7F"/>
      </a:accent1>
      <a:accent2>
        <a:srgbClr val="D1495B"/>
      </a:accent2>
      <a:accent3>
        <a:srgbClr val="2A9D8F"/>
      </a:accent3>
      <a:accent4>
        <a:srgbClr val="F2A541"/>
      </a:accent4>
      <a:accent5>
        <a:srgbClr val="5F6F7A"/>
      </a:accent5>
      <a:accent6>
        <a:srgbClr val="8FBFC7"/>
      </a:accent6>
      <a:hlink>
        <a:srgbClr val="0B6E7F"/>
      </a:hlink>
      <a:folHlink>
        <a:srgbClr val="5F6F7A"/>
      </a:folHlink>
    </a:clrScheme>
    <a:fontScheme name="DataCle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Dataset Cleaning Report</dc:title>
  <dc:subject>PptxGenJS Presentation</dc:subject>
  <dc:creator>PptxGenJS</dc:creator>
  <cp:lastModifiedBy>PptxGenJS</cp:lastModifiedBy>
  <cp:revision>1</cp:revision>
  <dcterms:created xsi:type="dcterms:W3CDTF">2026-10-06T07:51:47Z</dcterms:created>
  <dcterms:modified xsi:type="dcterms:W3CDTF">2026-10-06T07:51:47Z</dcterms:modified>
</cp:coreProperties>
</file>